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19"/>
  </p:notesMasterIdLst>
  <p:handoutMasterIdLst>
    <p:handoutMasterId r:id="rId20"/>
  </p:handoutMasterIdLst>
  <p:sldIdLst>
    <p:sldId id="327" r:id="rId5"/>
    <p:sldId id="330" r:id="rId6"/>
    <p:sldId id="331" r:id="rId7"/>
    <p:sldId id="332" r:id="rId8"/>
    <p:sldId id="262" r:id="rId9"/>
    <p:sldId id="263" r:id="rId10"/>
    <p:sldId id="264" r:id="rId11"/>
    <p:sldId id="266" r:id="rId12"/>
    <p:sldId id="276" r:id="rId13"/>
    <p:sldId id="293" r:id="rId14"/>
    <p:sldId id="277" r:id="rId15"/>
    <p:sldId id="333" r:id="rId16"/>
    <p:sldId id="275" r:id="rId17"/>
    <p:sldId id="329" r:id="rId18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1B7B91-A810-4835-B0EB-A68A939999E8}" v="23" dt="2025-07-16T05:34:28.619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1"/>
    <p:restoredTop sz="85174"/>
  </p:normalViewPr>
  <p:slideViewPr>
    <p:cSldViewPr snapToGrid="0" snapToObjects="1">
      <p:cViewPr varScale="1">
        <p:scale>
          <a:sx n="70" d="100"/>
          <a:sy n="70" d="100"/>
        </p:scale>
        <p:origin x="1373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AE08-AED2-C205-1086-E97D0A43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422AE-0D61-F9F6-0D1F-3C420BC56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A802E-CC8B-7625-C721-8ED28818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674CA-9AAF-B316-036A-6B4D40113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7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767441" y="5243648"/>
            <a:ext cx="25146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ARVINDH BABU V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813CC5-590A-78DE-05C0-7B4133D8A786}"/>
              </a:ext>
            </a:extLst>
          </p:cNvPr>
          <p:cNvSpPr txBox="1"/>
          <p:nvPr/>
        </p:nvSpPr>
        <p:spPr>
          <a:xfrm>
            <a:off x="767441" y="4337901"/>
            <a:ext cx="5083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Applied Data Science Capstone Project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IN" dirty="0"/>
              <a:t>Objective</a:t>
            </a:r>
            <a:endParaRPr lang="en-US" dirty="0">
              <a:solidFill>
                <a:srgbClr val="0B49CB"/>
              </a:solidFill>
              <a:latin typeface="Abad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63212C-C90E-8031-1893-AC79FF4B3F2C}"/>
              </a:ext>
            </a:extLst>
          </p:cNvPr>
          <p:cNvSpPr txBox="1"/>
          <p:nvPr/>
        </p:nvSpPr>
        <p:spPr>
          <a:xfrm>
            <a:off x="1230086" y="2057400"/>
            <a:ext cx="9557657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Act as a data scientist at a fictional rocket company,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SpaceY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, built to rival SpaceX. Project mission: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Analyze past SpaceX launches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 whether the booster will land successfully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Help the company optimize launch decisions using ML and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6" y="2113240"/>
            <a:ext cx="10181743" cy="278533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We developed an end-to-end data science solution to simulate booster landing prediction for SpaceX missions. The project involves data collection via web scraping, preprocessing, exploratory analysis, machine learning model training, and building a fully interactive prediction dashboard using Streamlit. It enables users to estimate landing success based on input parameters like payload, orbit, site, and booster version.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640066" y="2090058"/>
            <a:ext cx="10911868" cy="32112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400"/>
              </a:spcBef>
              <a:buNone/>
            </a:pPr>
            <a:r>
              <a:rPr lang="en-US" sz="2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Background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: SpaceX frequently reuses boosters to reduce launch costs. Predicting booster landing success is key to operational planning.</a:t>
            </a:r>
          </a:p>
          <a:p>
            <a:pPr marL="0" indent="0"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en-US" sz="2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 Statement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: Can we use historical launch data to predict booster landing outcomes and visualize success trends ?</a:t>
            </a:r>
          </a:p>
          <a:p>
            <a:pPr marL="0" indent="0"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en-US" sz="2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Goal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: Build a predictive dashboard to help simulate launches and visualize performance by orbit, payload, and location.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1608211" y="1747752"/>
            <a:ext cx="7574646" cy="3362496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4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 marL="342900" lvl="1" indent="-342900">
              <a:lnSpc>
                <a:spcPct val="110000"/>
              </a:lnSpc>
              <a:spcBef>
                <a:spcPts val="1400"/>
              </a:spcBef>
            </a:pPr>
            <a:r>
              <a:rPr lang="en-IN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Collection</a:t>
            </a:r>
          </a:p>
          <a:p>
            <a:pPr marL="342900" lvl="1" indent="-342900">
              <a:lnSpc>
                <a:spcPct val="110000"/>
              </a:lnSpc>
              <a:spcBef>
                <a:spcPts val="1400"/>
              </a:spcBef>
            </a:pPr>
            <a:r>
              <a:rPr lang="en-IN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Wrangling</a:t>
            </a:r>
          </a:p>
          <a:p>
            <a:pPr marL="342900" lvl="1" indent="-342900">
              <a:lnSpc>
                <a:spcPct val="110000"/>
              </a:lnSpc>
              <a:spcBef>
                <a:spcPts val="1400"/>
              </a:spcBef>
            </a:pPr>
            <a:r>
              <a:rPr lang="en-IN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EDA (with Visualizations &amp; SQL)</a:t>
            </a:r>
          </a:p>
          <a:p>
            <a:pPr marL="342900" lvl="1" indent="-342900">
              <a:lnSpc>
                <a:spcPct val="110000"/>
              </a:lnSpc>
              <a:spcBef>
                <a:spcPts val="1400"/>
              </a:spcBef>
            </a:pPr>
            <a:r>
              <a:rPr lang="en-IN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</a:t>
            </a:r>
          </a:p>
          <a:p>
            <a:pPr marL="342900" lvl="1" indent="-342900">
              <a:lnSpc>
                <a:spcPct val="110000"/>
              </a:lnSpc>
              <a:spcBef>
                <a:spcPts val="1400"/>
              </a:spcBef>
            </a:pPr>
            <a:r>
              <a:rPr lang="en-IN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Dashboard</a:t>
            </a:r>
            <a:endParaRPr lang="en-US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385560"/>
            <a:ext cx="10515600" cy="252866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Web scraped Wikipedia's List of Falcon 9 launches.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Parsed HTML tables.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Saved as cleaned_spacex_launches.csv.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Extracted launch site, orbit, payload, booster version, and landing outcome.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6691" y="2239328"/>
            <a:ext cx="8975652" cy="2030095"/>
          </a:xfrm>
          <a:prstGeom prst="rect">
            <a:avLst/>
          </a:prstGeom>
        </p:spPr>
        <p:txBody>
          <a:bodyPr/>
          <a:lstStyle/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Renamed inconsistent column names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Standardized orbit types and booster names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Converted mass column to float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Created binary target variable: Landing Success (1/0)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Plotted: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Payload vs. Launch 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Orbit vs. Landing Success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Booster Version success comparison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Tools: Plotly &amp; Matplotlib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6522720" cy="115770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Added global markers for major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Added color-coded outcome markers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250253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Used Logistic Regression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Feature set: Payload mass, Orbit, Booster Version, Launch 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Accuracy: ~87%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Saved model with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joblib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and deployed using Streamlit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9750675" cy="421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Orbit vs. Success Rate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GEO had lowest success; LEO/GTO had high booster reuse success.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Query Results Highlights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First ground landing: 2015-12-21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Most payload carried: Booster B1049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NASA total payload mass: 300,000+ kg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F9 v1.1 average payload: ~4,200 kg</a:t>
            </a: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A099E-4527-7078-5D54-CBF18864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F0B9F-C780-4ECB-3441-D00FD521B605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975067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Accuracy (Logistic Regression): ~87%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Confusion Matrix: High precision and recall for class 1 (Success)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D4DF3-F756-C72F-E362-DA4C852A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42684B-EFA1-196F-1410-69AD2EB1EB7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Model 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249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7789373" cy="26974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Sample Python code for web scraping and modeling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blocks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Screenshots of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Model evaluation output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456</Words>
  <Application>Microsoft Office PowerPoint</Application>
  <PresentationFormat>Widescreen</PresentationFormat>
  <Paragraphs>81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Arvindh Babu</cp:lastModifiedBy>
  <cp:revision>200</cp:revision>
  <dcterms:created xsi:type="dcterms:W3CDTF">2021-04-29T18:58:34Z</dcterms:created>
  <dcterms:modified xsi:type="dcterms:W3CDTF">2025-07-16T05:35:29Z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